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Obra Letra Bold" charset="1" panose="00000000000000000000"/>
      <p:regular r:id="rId27"/>
    </p:embeddedFont>
    <p:embeddedFont>
      <p:font typeface="Muli Bold" charset="1" panose="00000800000000000000"/>
      <p:regular r:id="rId28"/>
    </p:embeddedFont>
    <p:embeddedFont>
      <p:font typeface="Muli" charset="1" panose="00000500000000000000"/>
      <p:regular r:id="rId29"/>
    </p:embeddedFont>
    <p:embeddedFont>
      <p:font typeface="Canva Sans" charset="1" panose="020B0503030501040103"/>
      <p:regular r:id="rId30"/>
    </p:embeddedFont>
    <p:embeddedFont>
      <p:font typeface="Muli Italic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2395" y="1028700"/>
            <a:ext cx="2903210" cy="2294600"/>
          </a:xfrm>
          <a:custGeom>
            <a:avLst/>
            <a:gdLst/>
            <a:ahLst/>
            <a:cxnLst/>
            <a:rect r="r" b="b" t="t" l="l"/>
            <a:pathLst>
              <a:path h="2294600" w="2903210">
                <a:moveTo>
                  <a:pt x="0" y="0"/>
                </a:moveTo>
                <a:lnTo>
                  <a:pt x="2903210" y="0"/>
                </a:lnTo>
                <a:lnTo>
                  <a:pt x="2903210" y="2294600"/>
                </a:lnTo>
                <a:lnTo>
                  <a:pt x="0" y="2294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7" r="0" b="-83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611071"/>
            <a:ext cx="3845815" cy="265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Name: Ashish Kumar</a:t>
            </a:r>
          </a:p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Roll No: 7315</a:t>
            </a:r>
          </a:p>
          <a:p>
            <a:pPr algn="l">
              <a:lnSpc>
                <a:spcPts val="4270"/>
              </a:lnSpc>
            </a:pPr>
            <a:r>
              <a:rPr lang="en-US" sz="3050" b="true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T.E COMP-B</a:t>
            </a:r>
          </a:p>
          <a:p>
            <a:pPr algn="l">
              <a:lnSpc>
                <a:spcPts val="4270"/>
              </a:lnSpc>
            </a:pPr>
          </a:p>
          <a:p>
            <a:pPr algn="l">
              <a:lnSpc>
                <a:spcPts val="427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7371" y="3867327"/>
            <a:ext cx="16221929" cy="203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0"/>
              </a:lnSpc>
              <a:spcBef>
                <a:spcPct val="0"/>
              </a:spcBef>
            </a:pPr>
            <a:r>
              <a:rPr lang="en-US" b="true" sz="5828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Enhanced Fuzzy Sentiment Detection in Cricket Tweets using CNN and BERT Hybrid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02145" y="6611071"/>
            <a:ext cx="4857155" cy="52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b="true" sz="3050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G</a:t>
            </a:r>
            <a:r>
              <a:rPr lang="en-US" b="true" sz="3050">
                <a:solidFill>
                  <a:srgbClr val="000000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uide: Prof. Mangesh Hajare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19396" y="8984491"/>
            <a:ext cx="6049209" cy="127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555555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Department: C</a:t>
            </a:r>
            <a:r>
              <a:rPr lang="en-US" b="true" sz="2450">
                <a:solidFill>
                  <a:srgbClr val="555555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omputer Engineering</a:t>
            </a:r>
          </a:p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555555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Institute: Army Institute of Technology, Pune</a:t>
            </a:r>
          </a:p>
          <a:p>
            <a:pPr algn="ctr">
              <a:lnSpc>
                <a:spcPts val="34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65916" y="2810245"/>
            <a:ext cx="15156169" cy="67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Cricket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generates massive public engagement on social media, especially Twitter, where fans express emotions in real time.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Tweets often mix multiple emotions such as joy, disappointment, sarcasm, or frustration, making their analysis challenging.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Traditional sentiment models struggle with such fuzzy or ambiguous language.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The proposed system introduces a hybrid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CNN–BERT–Fuzzy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model that combines deep contextual understanding with linguistic uncertainty handling.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It classifies tweets into five emotion categories: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Elated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Pleased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Unbiased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Displeased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and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Frustrated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for accurate sports sentiment interpretation.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41506" y="1335883"/>
            <a:ext cx="860498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INTRODUCTION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2570323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378836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48696"/>
            <a:ext cx="18288000" cy="3645408"/>
          </a:xfrm>
          <a:custGeom>
            <a:avLst/>
            <a:gdLst/>
            <a:ahLst/>
            <a:cxnLst/>
            <a:rect r="r" b="b" t="t" l="l"/>
            <a:pathLst>
              <a:path h="3645408" w="18288000">
                <a:moveTo>
                  <a:pt x="0" y="0"/>
                </a:moveTo>
                <a:lnTo>
                  <a:pt x="18288000" y="0"/>
                </a:lnTo>
                <a:lnTo>
                  <a:pt x="18288000" y="3645408"/>
                </a:lnTo>
                <a:lnTo>
                  <a:pt x="0" y="36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2333302" y="3630976"/>
                </a:moveTo>
                <a:lnTo>
                  <a:pt x="0" y="3630976"/>
                </a:lnTo>
                <a:lnTo>
                  <a:pt x="0" y="0"/>
                </a:lnTo>
                <a:lnTo>
                  <a:pt x="2333302" y="0"/>
                </a:lnTo>
                <a:lnTo>
                  <a:pt x="2333302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954698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0" y="3630976"/>
                </a:moveTo>
                <a:lnTo>
                  <a:pt x="2333302" y="3630976"/>
                </a:lnTo>
                <a:lnTo>
                  <a:pt x="2333302" y="0"/>
                </a:lnTo>
                <a:lnTo>
                  <a:pt x="0" y="0"/>
                </a:lnTo>
                <a:lnTo>
                  <a:pt x="0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78196" y="2738755"/>
            <a:ext cx="15507684" cy="67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Tweets related to cricket often contain ambiguous or overlapping emotions, making it difficult to assign a clear sentiment label.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Traditional models misinterpret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mixed opinions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sarcasm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and vague phrases like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“almost good”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or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“not too bad”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Deep models like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though powerful, still lack mechanisms to quantify fuzziness or uncertainty in text.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Imbalanced emotional classes in real-world cricket datasets lead to biased sentiment prediction.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Hence, the key challenge is: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“How can a hybrid model combining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and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linguistic reasoning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accurately detect uncertain or ambiguous sentiments in cricket tweets?”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15172" y="1131593"/>
            <a:ext cx="1185765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PROBLEM STATEMENT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2366033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3667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09423" y="1076041"/>
            <a:ext cx="11069153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LITERATURE REVIEW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2291431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49415" y="2562703"/>
            <a:ext cx="13389170" cy="5546838"/>
          </a:xfrm>
          <a:custGeom>
            <a:avLst/>
            <a:gdLst/>
            <a:ahLst/>
            <a:cxnLst/>
            <a:rect r="r" b="b" t="t" l="l"/>
            <a:pathLst>
              <a:path h="5546838" w="13389170">
                <a:moveTo>
                  <a:pt x="0" y="0"/>
                </a:moveTo>
                <a:lnTo>
                  <a:pt x="13389170" y="0"/>
                </a:lnTo>
                <a:lnTo>
                  <a:pt x="13389170" y="5546838"/>
                </a:lnTo>
                <a:lnTo>
                  <a:pt x="0" y="5546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57107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5936" y="2800451"/>
            <a:ext cx="14816128" cy="614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Existing sentiment models fail to handle fuzzy or mixed emotional expressions common in short cricket tweets.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Deep learning models like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capture context well but lack mechanisms to represent linguistic uncertainty.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Most prior works focus on generic product reviews or binary sentiments, not domain-specific, multi-class sports tweets.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Imbalanced sentiment classes and limited interpretability reduce the reliability of results.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There is a need for a hybrid model that combines contextual understanding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(BERT) with fuzzy reasoning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for more accurate and interpretable analysis.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GAPS IDENTIFIED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342343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66115" y="2729230"/>
            <a:ext cx="14955770" cy="477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To design an enhanced fuzzy sentiment detection framework capable of analyzing ambiguous and uncertain emotions in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cricket tweets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To integrate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and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logic 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into a unified hybrid model for multi-class sentiment classification.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To improve sentiment prediction accuracy and interpretability compared with conventional deep learning models.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To address class imbalance and uncertainty present in real-world cricket tweet datasets.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42622" y="1136818"/>
            <a:ext cx="8402757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7199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OBJECTIVES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35220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400446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48696"/>
            <a:ext cx="18288000" cy="3645408"/>
          </a:xfrm>
          <a:custGeom>
            <a:avLst/>
            <a:gdLst/>
            <a:ahLst/>
            <a:cxnLst/>
            <a:rect r="r" b="b" t="t" l="l"/>
            <a:pathLst>
              <a:path h="3645408" w="18288000">
                <a:moveTo>
                  <a:pt x="0" y="0"/>
                </a:moveTo>
                <a:lnTo>
                  <a:pt x="18288000" y="0"/>
                </a:lnTo>
                <a:lnTo>
                  <a:pt x="18288000" y="3645408"/>
                </a:lnTo>
                <a:lnTo>
                  <a:pt x="0" y="36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954698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0" y="3630976"/>
                </a:moveTo>
                <a:lnTo>
                  <a:pt x="2333302" y="3630976"/>
                </a:lnTo>
                <a:lnTo>
                  <a:pt x="2333302" y="0"/>
                </a:lnTo>
                <a:lnTo>
                  <a:pt x="0" y="0"/>
                </a:lnTo>
                <a:lnTo>
                  <a:pt x="0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2333302" y="3630976"/>
                </a:moveTo>
                <a:lnTo>
                  <a:pt x="0" y="3630976"/>
                </a:lnTo>
                <a:lnTo>
                  <a:pt x="0" y="0"/>
                </a:lnTo>
                <a:lnTo>
                  <a:pt x="2333302" y="0"/>
                </a:lnTo>
                <a:lnTo>
                  <a:pt x="2333302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14052" y="1131593"/>
            <a:ext cx="1245989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SYSTEM ARCHITECTURE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236603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453733" y="2692393"/>
            <a:ext cx="15380534" cy="614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The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system combines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and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Logic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for robust cricket tweet sentiment detection.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Five main modules:</a:t>
            </a:r>
          </a:p>
          <a:p>
            <a:pPr algn="l" marL="1381761" indent="-460587" lvl="2">
              <a:lnSpc>
                <a:spcPts val="4480"/>
              </a:lnSpc>
              <a:buAutoNum type="alphaLcPeriod" startAt="1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Tweet Intake &amp; Cleaning: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Remove noise (URLs, hashtags, emojis).</a:t>
            </a:r>
          </a:p>
          <a:p>
            <a:pPr algn="l" marL="1381761" indent="-460587" lvl="2">
              <a:lnSpc>
                <a:spcPts val="4480"/>
              </a:lnSpc>
              <a:buAutoNum type="alphaLcPeriod" startAt="1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Feature Extractor: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Compute mean polarity, deviation, fuzzy flag, and token count.</a:t>
            </a:r>
          </a:p>
          <a:p>
            <a:pPr algn="l" marL="1381761" indent="-460587" lvl="2">
              <a:lnSpc>
                <a:spcPts val="4480"/>
              </a:lnSpc>
              <a:buAutoNum type="alphaLcPeriod" startAt="1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Context Encoder (BERT):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Generate deep bidirectional embeddings.</a:t>
            </a:r>
          </a:p>
          <a:p>
            <a:pPr algn="l" marL="1381761" indent="-460587" lvl="2">
              <a:lnSpc>
                <a:spcPts val="4480"/>
              </a:lnSpc>
              <a:buAutoNum type="alphaLcPeriod" startAt="1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Feature Fusion Layer: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Concatenate BERT and fuzzy vectors.</a:t>
            </a:r>
          </a:p>
          <a:p>
            <a:pPr algn="l" marL="1381761" indent="-460587" lvl="2">
              <a:lnSpc>
                <a:spcPts val="4480"/>
              </a:lnSpc>
              <a:buAutoNum type="alphaLcPeriod" startAt="1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Classification Layer: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Softmax-based classifier for 5 emotions-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Elated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Pleased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Unbiased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Displeased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</a:t>
            </a: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Frustrated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357464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48696"/>
            <a:ext cx="18288000" cy="3645408"/>
          </a:xfrm>
          <a:custGeom>
            <a:avLst/>
            <a:gdLst/>
            <a:ahLst/>
            <a:cxnLst/>
            <a:rect r="r" b="b" t="t" l="l"/>
            <a:pathLst>
              <a:path h="3645408" w="18288000">
                <a:moveTo>
                  <a:pt x="0" y="0"/>
                </a:moveTo>
                <a:lnTo>
                  <a:pt x="18288000" y="0"/>
                </a:lnTo>
                <a:lnTo>
                  <a:pt x="18288000" y="3645408"/>
                </a:lnTo>
                <a:lnTo>
                  <a:pt x="0" y="36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954698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0" y="3630976"/>
                </a:moveTo>
                <a:lnTo>
                  <a:pt x="2333302" y="3630976"/>
                </a:lnTo>
                <a:lnTo>
                  <a:pt x="2333302" y="0"/>
                </a:lnTo>
                <a:lnTo>
                  <a:pt x="0" y="0"/>
                </a:lnTo>
                <a:lnTo>
                  <a:pt x="0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2333302" y="3630976"/>
                </a:moveTo>
                <a:lnTo>
                  <a:pt x="0" y="3630976"/>
                </a:lnTo>
                <a:lnTo>
                  <a:pt x="0" y="0"/>
                </a:lnTo>
                <a:lnTo>
                  <a:pt x="2333302" y="0"/>
                </a:lnTo>
                <a:lnTo>
                  <a:pt x="2333302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14052" y="1131593"/>
            <a:ext cx="1245989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SYSTEM ARCHITECTURE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236603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929868" y="2555027"/>
            <a:ext cx="6428263" cy="6529610"/>
          </a:xfrm>
          <a:custGeom>
            <a:avLst/>
            <a:gdLst/>
            <a:ahLst/>
            <a:cxnLst/>
            <a:rect r="r" b="b" t="t" l="l"/>
            <a:pathLst>
              <a:path h="6529610" w="6428263">
                <a:moveTo>
                  <a:pt x="0" y="0"/>
                </a:moveTo>
                <a:lnTo>
                  <a:pt x="6428264" y="0"/>
                </a:lnTo>
                <a:lnTo>
                  <a:pt x="6428264" y="6529610"/>
                </a:lnTo>
                <a:lnTo>
                  <a:pt x="0" y="652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342522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09836" y="1076041"/>
            <a:ext cx="726832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METHODOLOGY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339" y="2505553"/>
            <a:ext cx="15417322" cy="649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Models Compared:</a:t>
            </a:r>
          </a:p>
          <a:p>
            <a:pPr algn="just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 Feature-Ensemble 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(Phan et al., IEEE Access 2020 [1])</a:t>
            </a:r>
          </a:p>
          <a:p>
            <a:pPr algn="just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 Baseline 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(Devlin et al., NAACL 2019 [2])</a:t>
            </a:r>
          </a:p>
          <a:p>
            <a:pPr algn="just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Proposed BERT + Fuzzy Hybrid Model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Dataset: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65,804 tweets (real + 5,000 synthetic fuzzy).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Preprocessing: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Cleaning, tokenization, lemmatization, noise removal.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Feature Extraction:</a:t>
            </a:r>
          </a:p>
          <a:p>
            <a:pPr algn="l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 → Context embeddings</a:t>
            </a:r>
          </a:p>
          <a:p>
            <a:pPr algn="l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→ Polarity, deviation, ambiguity</a:t>
            </a:r>
          </a:p>
          <a:p>
            <a:pPr algn="l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CNN → Local text patterns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Training: 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AdamW optimizer, </a:t>
            </a: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80:20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split, early stopping.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b="true" sz="31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Metrics: </a:t>
            </a:r>
            <a:r>
              <a:rPr lang="en-US" sz="31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Accuracy, Precision, Recall, F1-Score.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291431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342522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5936" y="3177356"/>
            <a:ext cx="14816128" cy="4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Model 1: CNN Feature-Ensemble [1]</a:t>
            </a:r>
          </a:p>
          <a:p>
            <a:pPr algn="l">
              <a:lnSpc>
                <a:spcPts val="1260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Adapted from Phan et al., IEEE Access (2020).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Uses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1D Convolution + Max Pooling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to extract local text patterns.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Input features: Token embeddings, POS tags, and polarity sequences.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Outputs sentiment through a dense softmax layer.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Acts as the baseline model for fuzzy sentiment tweets.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ALGORITHMS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78989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5936" y="3177356"/>
            <a:ext cx="14816128" cy="492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Model 2: BERT Baseline [2]</a:t>
            </a:r>
          </a:p>
          <a:p>
            <a:pPr algn="l">
              <a:lnSpc>
                <a:spcPts val="1260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Adapted from Devlin et al., NAACL (2019).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Uses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Bidirectional Encoder Representations from Transformers (BERT).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Encodes each tweet and uses the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[CLS] token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for sentiment classification.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Provides strong contextual understanding, but lacks fuzzy reasoning.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ALGORITHMS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5936" y="3177356"/>
            <a:ext cx="14816128" cy="4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Model 3: Proposed BERT + Fuzzy Hybrid </a:t>
            </a:r>
          </a:p>
          <a:p>
            <a:pPr algn="l">
              <a:lnSpc>
                <a:spcPts val="1260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Integrates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BERT embeddings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with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features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(mean polarity, std deviation, ambiguity flag, token count).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Fuzzy features → processed by MLP → concatenated with BERT’s [CLS] output.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Classified via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softmax layer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into 5 sentiment classes.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ALGORITHMS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48696"/>
            <a:ext cx="18288000" cy="3645408"/>
          </a:xfrm>
          <a:custGeom>
            <a:avLst/>
            <a:gdLst/>
            <a:ahLst/>
            <a:cxnLst/>
            <a:rect r="r" b="b" t="t" l="l"/>
            <a:pathLst>
              <a:path h="3645408" w="18288000">
                <a:moveTo>
                  <a:pt x="0" y="0"/>
                </a:moveTo>
                <a:lnTo>
                  <a:pt x="18288000" y="0"/>
                </a:lnTo>
                <a:lnTo>
                  <a:pt x="18288000" y="3645408"/>
                </a:lnTo>
                <a:lnTo>
                  <a:pt x="0" y="36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2333302" y="3630976"/>
                </a:moveTo>
                <a:lnTo>
                  <a:pt x="0" y="3630976"/>
                </a:lnTo>
                <a:lnTo>
                  <a:pt x="0" y="0"/>
                </a:lnTo>
                <a:lnTo>
                  <a:pt x="2333302" y="0"/>
                </a:lnTo>
                <a:lnTo>
                  <a:pt x="2333302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954698" y="0"/>
            <a:ext cx="2333302" cy="3630976"/>
          </a:xfrm>
          <a:custGeom>
            <a:avLst/>
            <a:gdLst/>
            <a:ahLst/>
            <a:cxnLst/>
            <a:rect r="r" b="b" t="t" l="l"/>
            <a:pathLst>
              <a:path h="3630976" w="2333302">
                <a:moveTo>
                  <a:pt x="0" y="3630976"/>
                </a:moveTo>
                <a:lnTo>
                  <a:pt x="2333302" y="3630976"/>
                </a:lnTo>
                <a:lnTo>
                  <a:pt x="2333302" y="0"/>
                </a:lnTo>
                <a:lnTo>
                  <a:pt x="0" y="0"/>
                </a:lnTo>
                <a:lnTo>
                  <a:pt x="0" y="36309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78196" y="2568702"/>
            <a:ext cx="15507684" cy="446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Total Tweets: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65,804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60,804 real (Kaggle)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+</a:t>
            </a: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 5,000 synthetic fuzzy 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tweets</a:t>
            </a: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Sentiment Classes (5):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Elated, Pleased, Unbiased, Displeased, Frustrated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Train–Test Split: </a:t>
            </a: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80% (52,643)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→ Train &amp; </a:t>
            </a:r>
            <a:r>
              <a:rPr lang="en-US" sz="32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20% (13,161)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→ Test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Purpose of Synthetic Tweets: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To enhance fuzzy and ambiguous emotion coverage.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Preprocessing:</a:t>
            </a:r>
            <a:r>
              <a:rPr lang="en-US" sz="32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Cleaning, tokenization, lemmatization, noise removal.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15172" y="1131593"/>
            <a:ext cx="11857655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DATASETS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0" y="2366033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509836" y="1076041"/>
            <a:ext cx="726832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RESULTS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00" y="2291431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826151" y="5697060"/>
            <a:ext cx="12635697" cy="2900618"/>
          </a:xfrm>
          <a:custGeom>
            <a:avLst/>
            <a:gdLst/>
            <a:ahLst/>
            <a:cxnLst/>
            <a:rect r="r" b="b" t="t" l="l"/>
            <a:pathLst>
              <a:path h="2900618" w="12635697">
                <a:moveTo>
                  <a:pt x="0" y="0"/>
                </a:moveTo>
                <a:lnTo>
                  <a:pt x="12635698" y="0"/>
                </a:lnTo>
                <a:lnTo>
                  <a:pt x="12635698" y="2900617"/>
                </a:lnTo>
                <a:lnTo>
                  <a:pt x="0" y="290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4854" y="2515078"/>
            <a:ext cx="15638291" cy="318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65" indent="-280682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Class-wise Highlights:</a:t>
            </a:r>
          </a:p>
          <a:p>
            <a:pPr algn="l" marL="1122730" indent="-374243" lvl="2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Highest perf</a:t>
            </a:r>
            <a:r>
              <a:rPr lang="en-US" sz="2600" i="true">
                <a:solidFill>
                  <a:srgbClr val="16194F"/>
                </a:solidFill>
                <a:latin typeface="Muli Italics"/>
                <a:ea typeface="Muli Italics"/>
                <a:cs typeface="Muli Italics"/>
                <a:sym typeface="Muli Italics"/>
              </a:rPr>
              <a:t>ormance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in 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Unbiased (0.97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F1)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and 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Elated (0.96 F1)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c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at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ego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r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es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l" marL="1122730" indent="-374243" lvl="2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Slightly low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r (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b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ut strong) resu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l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ts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in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Displeased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and 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Frustrated 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due to comp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l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ex express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o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n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s.</a:t>
            </a:r>
          </a:p>
          <a:p>
            <a:pPr algn="l" marL="561365" indent="-280682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Key Observation:</a:t>
            </a:r>
          </a:p>
          <a:p>
            <a:pPr algn="l" marL="1122730" indent="-374243" lvl="2">
              <a:lnSpc>
                <a:spcPts val="364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Hyb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rid model 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out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p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erf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o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rm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ed 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all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baselines by effectively handling</a:t>
            </a:r>
            <a:r>
              <a:rPr lang="en-US" sz="2600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b="true" sz="2600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and ambiguous sentiments.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4970" y="2969057"/>
            <a:ext cx="15178060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hybrid CNN–BERT–Fuzzy 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model was developed for sentiment analysis of cricket tweets.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It effectively captures contextual meaning and handles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or ambiguous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emotions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Achieved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95.6% accuracy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, outperforming CNN and BERT baselines.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The integration of 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fuzzy linguistic features 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improved interpretability and robustness.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Demonstrates strong potential for real-time sports sentiment analysis and broader NLP tasks.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270138" y="1290688"/>
            <a:ext cx="774772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CONCLUSION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252512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04988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0" y="0"/>
                </a:moveTo>
                <a:lnTo>
                  <a:pt x="7315200" y="0"/>
                </a:lnTo>
                <a:lnTo>
                  <a:pt x="7315200" y="2706624"/>
                </a:lnTo>
                <a:lnTo>
                  <a:pt x="0" y="2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-143921"/>
            <a:ext cx="7315200" cy="2706624"/>
          </a:xfrm>
          <a:custGeom>
            <a:avLst/>
            <a:gdLst/>
            <a:ahLst/>
            <a:cxnLst/>
            <a:rect r="r" b="b" t="t" l="l"/>
            <a:pathLst>
              <a:path h="2706624" w="7315200">
                <a:moveTo>
                  <a:pt x="7315200" y="2706624"/>
                </a:moveTo>
                <a:lnTo>
                  <a:pt x="0" y="27066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7066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5339" y="1076041"/>
            <a:ext cx="1541732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APPLICATIONS AND FUTURE SCOPES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339" y="2505553"/>
            <a:ext cx="15417322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Applications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Spo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rts Analytics: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Helps broadcasters, teams, and sponsors analyze fan emotions in real time.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Decision Support: 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Provides actionable insights on player performance and public reactions.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Future Scopes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M</a:t>
            </a: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ultilingual Expansion: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Extend to Hinglish and other Indian languages.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Real-time System:</a:t>
            </a:r>
            <a:r>
              <a:rPr lang="en-US" sz="3399">
                <a:solidFill>
                  <a:srgbClr val="16194F"/>
                </a:solidFill>
                <a:latin typeface="Muli"/>
                <a:ea typeface="Muli"/>
                <a:cs typeface="Muli"/>
                <a:sym typeface="Muli"/>
              </a:rPr>
              <a:t> Develop a live dashboard for dynamic sentiment tracking.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291431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08338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066" y="2632986"/>
            <a:ext cx="15773792" cy="627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[1] H. T. Phan, H. M. Nguyen, and T. L. Do, “Improving the Performance of Sentiment Analysis of Tweets Containing Fuzzy Sentiment Using the Feature Ensemble Model,” IEEE Access, vol. 8, pp. 216834–216846, 2020.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[2] J. Devlin, M.-W. Chang, K. Lee, and K. Toutanova, “BERT: Pre-training of Deep Bidirectional Transformers for Language Understanding,” in Proc. NAACL-HLT, 2019, pp. 4171–4186.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[3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N. A. Sharma, A. B. M. S. Ali, and M. A. Kabir, “A review of sentiment analysis: tasks, applications, and deep learning techniques,” Int. J. Data Sci. Anal., vol. 19, pp. 351–388, 2024.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[4] M. Khurana, A. Gulati, and S. Singh, “Sentiment analysis framework of Twitter data using classification,” in Proc. IEEE PDGC, 2018.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[5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M. Rathi, N. Malik, and R. K. Saini, “Sentiment analysis of tweets using machine learning approach,” in Proc. IEEE IC3, 2018.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[6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E. Karthika, R. Murugeswari, and R. Manoranjithem, “Sentiment anal ysis of social media networks using random forest algorithm,” in Proc. IEEE INCOS, 2019.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[7] J. S. Vimali and S. Murugan, “AText-BasedSentimentAnalysisModelusingBi-directional LSTMNetworks,” in Proc. IEEE ICCES, 2021.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066" y="2632986"/>
            <a:ext cx="15773792" cy="585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[8] S. Wen, X. Zhao, H. Zhao, Y. Zhang, and Z. Lu, “Memristive LSTM Network for Sentiment Analysis,” IEEE Trans. Systems, Man, and Cybernetics, vol. 51, no. 3, pp. 1794–1804, 2021.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[9] Y. Wu, Z. Jin, C. Shi, P. Liang, and T. Zhan, “Research on the Appli cation of Deep Learning-based BERT Model in Sentiment Analysis,” arXiv preprint arXiv:2403.08217, 2024.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[10] T. Wang, L. Lu, K. Chow, and J. Zhu, “COVID-19 Sensing: Negative Sentiment Analysis via BERT Model,” IEEE Access, 2020.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[11] L. Yang, S. Zhang, H. Chen, and Y. Zhao, “Sentiment analysis for e commerce product reviews in Chinese based on sentiment lexicon and deep learning,” IEEE Access, vol. 8, pp. 23522–23530, 2020.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[12] K. Dashtipour, M. Gogate, A. Hussain, and F. Cambria, “A hybrid Persian sentiment analysis framework integrating dependency grammar and deep neural networks,” Neurocomputing, vol. 380, pp. 1–10, 2020. 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[13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A. Rezaeinia, R. Rahmani, A. Ghodsi, and H. Veisi, “Improving pre trained word embeddings for sentiment analysis using POS and lexicon information,” Information Sciences, vol. 369, pp. 188–198, 2016. 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[14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M. Al-Twairesh, H. Al-Khalifa, and A. Al-Salman, “Surface and deep features in Arabic sentiment analysis,” IEEE Trans. Affective Computing, 2018.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066" y="2632986"/>
            <a:ext cx="15773792" cy="585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[15] P. Phulare and S. Deshmukh, “Cricket Twitter Data Sentiment Analysis and Prediction Exerted Machine Learning,” in Proc. IEEE CENTCON, 2021.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[16] A. Chaudhari, K. Kumbhare, and R. Patel, “Comparison of Sentiment Analysis Algorithms using Twitter Dataset for Real-Time Analysis of Cricket Sport,” in Proc. IEEE IDCIoT, 2024.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[17] K. Dheemonth, R. Shankar, and B. P. Singh, “Sentiment Analysis on Cricket Tweets using NLP++,” in Proc. IEEE ICCCNT, 2024.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[18] K. Sharma, L. Hota, V. Tikkiwal, and A. Kumar, “Exploring Twitter Sentiments for Predicting Match Outcomes in the Game of Cricket,” Procedia Computer Science, vol. 235, pp. 152–162, 2024.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[19] C. R. Aydin and T. Gungor, “Combination of Recursive and Recurrent Neural Networks for Aspect-Based Sentiment Analysis,” IEEE Access, 2020.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[20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Y. Ren, R. Wang, and D. Ji, “A topic-enhanced word embedding for Twitter sentiment classification,” Information Sciences, vol. 369, pp. 188–198, 2016.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[21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A. Mukwazvure and K. Supreethi, “A hybrid approach to sentiment analysis of news comments,” in Proc. IEEE ICRITO, 2015.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49552" y="7438924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5138448" y="2848076"/>
                </a:moveTo>
                <a:lnTo>
                  <a:pt x="0" y="2848076"/>
                </a:lnTo>
                <a:lnTo>
                  <a:pt x="0" y="0"/>
                </a:lnTo>
                <a:lnTo>
                  <a:pt x="5138448" y="0"/>
                </a:lnTo>
                <a:lnTo>
                  <a:pt x="5138448" y="28480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138448" cy="2848076"/>
          </a:xfrm>
          <a:custGeom>
            <a:avLst/>
            <a:gdLst/>
            <a:ahLst/>
            <a:cxnLst/>
            <a:rect r="r" b="b" t="t" l="l"/>
            <a:pathLst>
              <a:path h="2848076" w="5138448">
                <a:moveTo>
                  <a:pt x="0" y="0"/>
                </a:moveTo>
                <a:lnTo>
                  <a:pt x="5138448" y="0"/>
                </a:lnTo>
                <a:lnTo>
                  <a:pt x="5138448" y="2848076"/>
                </a:lnTo>
                <a:lnTo>
                  <a:pt x="0" y="284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619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066" y="2632986"/>
            <a:ext cx="15773792" cy="417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 [22] F. M. Kundi, S. Ahmad, A. Khan, and M. Asghar, “Detection and scoring of Internet slangs for sentiment analysis using SentiWordNet,” Life Science Journal, vol. 11, no. 9, 2014.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[23] H. Ye, Z. Liu, T. Chen, and J. Wang, “Combining sentiment lexicons and contextual embeddings for fuzzy sentiment detection,” IEEE Access, 2023.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[24] R. Jena, “An empirical case study on Indian consumers’ sentiment towards electric vehicles,” Industrial Marketing Management, vol. 90, pp. 605–616, 2020.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[25] N. Chauhan and S. Dey, “A fuzzy logic-based hybrid sentiment model for ambiguous product reviews,” Expert Systems with Applications, vol. 218, 2023. 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[26</a:t>
            </a:r>
            <a:r>
              <a:rPr lang="en-US" sz="2400" b="true">
                <a:solidFill>
                  <a:srgbClr val="16194F"/>
                </a:solidFill>
                <a:latin typeface="Muli Bold"/>
                <a:ea typeface="Muli Bold"/>
                <a:cs typeface="Muli Bold"/>
                <a:sym typeface="Muli Bold"/>
              </a:rPr>
              <a:t>] M. Liu, X. Zhang, and Y. Sun, “Deep fusion of sentiment features for domain-specific opinion mining,” Information Processing &amp; Manage ment, vol. 61, 2024.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3646" y="1290688"/>
            <a:ext cx="1242070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REFERENCES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2506078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16895201" y="8862962"/>
            <a:ext cx="1392799" cy="139279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FF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120351" y="8984417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8545"/>
              </a:lnSpc>
              <a:spcBef>
                <a:spcPct val="0"/>
              </a:spcBef>
            </a:pPr>
            <a:r>
              <a:rPr lang="en-US" sz="61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41592"/>
            <a:ext cx="18288000" cy="3645408"/>
          </a:xfrm>
          <a:custGeom>
            <a:avLst/>
            <a:gdLst/>
            <a:ahLst/>
            <a:cxnLst/>
            <a:rect r="r" b="b" t="t" l="l"/>
            <a:pathLst>
              <a:path h="3645408" w="18288000">
                <a:moveTo>
                  <a:pt x="0" y="0"/>
                </a:moveTo>
                <a:lnTo>
                  <a:pt x="18288000" y="0"/>
                </a:lnTo>
                <a:lnTo>
                  <a:pt x="18288000" y="3645408"/>
                </a:lnTo>
                <a:lnTo>
                  <a:pt x="0" y="3645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039475" y="4982474"/>
            <a:ext cx="7315200" cy="322053"/>
          </a:xfrm>
          <a:custGeom>
            <a:avLst/>
            <a:gdLst/>
            <a:ahLst/>
            <a:cxnLst/>
            <a:rect r="r" b="b" t="t" l="l"/>
            <a:pathLst>
              <a:path h="322053" w="7315200">
                <a:moveTo>
                  <a:pt x="0" y="322052"/>
                </a:moveTo>
                <a:lnTo>
                  <a:pt x="7315200" y="322052"/>
                </a:lnTo>
                <a:lnTo>
                  <a:pt x="7315200" y="0"/>
                </a:lnTo>
                <a:lnTo>
                  <a:pt x="0" y="0"/>
                </a:lnTo>
                <a:lnTo>
                  <a:pt x="0" y="322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7625" y="4982474"/>
            <a:ext cx="7315200" cy="322053"/>
          </a:xfrm>
          <a:custGeom>
            <a:avLst/>
            <a:gdLst/>
            <a:ahLst/>
            <a:cxnLst/>
            <a:rect r="r" b="b" t="t" l="l"/>
            <a:pathLst>
              <a:path h="322053" w="7315200">
                <a:moveTo>
                  <a:pt x="7315200" y="0"/>
                </a:moveTo>
                <a:lnTo>
                  <a:pt x="0" y="0"/>
                </a:lnTo>
                <a:lnTo>
                  <a:pt x="0" y="322052"/>
                </a:lnTo>
                <a:lnTo>
                  <a:pt x="7315200" y="3220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5011518"/>
          </a:xfrm>
          <a:custGeom>
            <a:avLst/>
            <a:gdLst/>
            <a:ahLst/>
            <a:cxnLst/>
            <a:rect r="r" b="b" t="t" l="l"/>
            <a:pathLst>
              <a:path h="5011518" w="18288000">
                <a:moveTo>
                  <a:pt x="0" y="0"/>
                </a:moveTo>
                <a:lnTo>
                  <a:pt x="18288000" y="0"/>
                </a:lnTo>
                <a:lnTo>
                  <a:pt x="18288000" y="5011518"/>
                </a:lnTo>
                <a:lnTo>
                  <a:pt x="0" y="5011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6683" y="3663629"/>
            <a:ext cx="12534634" cy="3281795"/>
          </a:xfrm>
          <a:custGeom>
            <a:avLst/>
            <a:gdLst/>
            <a:ahLst/>
            <a:cxnLst/>
            <a:rect r="r" b="b" t="t" l="l"/>
            <a:pathLst>
              <a:path h="3281795" w="12534634">
                <a:moveTo>
                  <a:pt x="0" y="0"/>
                </a:moveTo>
                <a:lnTo>
                  <a:pt x="12534634" y="0"/>
                </a:lnTo>
                <a:lnTo>
                  <a:pt x="12534634" y="3281795"/>
                </a:lnTo>
                <a:lnTo>
                  <a:pt x="0" y="3281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90925" y="4705086"/>
            <a:ext cx="11106150" cy="14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0"/>
              </a:lnSpc>
            </a:pPr>
            <a:r>
              <a:rPr lang="en-US" b="true" sz="11500">
                <a:solidFill>
                  <a:srgbClr val="16194F"/>
                </a:solidFill>
                <a:latin typeface="Obra Letra Bold"/>
                <a:ea typeface="Obra Letra Bold"/>
                <a:cs typeface="Obra Letra Bold"/>
                <a:sym typeface="Obra Letr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DAG1Ia-4E2U</dc:identifier>
  <dcterms:modified xsi:type="dcterms:W3CDTF">2011-08-01T06:04:30Z</dcterms:modified>
  <cp:revision>1</cp:revision>
  <dc:title>SENTIMENT ANALYSIS OF CRICKET TWEETS</dc:title>
</cp:coreProperties>
</file>